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ristotelica Pro" charset="1" panose="00000500000000000000"/>
      <p:regular r:id="rId13"/>
    </p:embeddedFont>
    <p:embeddedFont>
      <p:font typeface="Aristotelica Pro Bold" charset="1" panose="000008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16513" y="5457574"/>
            <a:ext cx="7189547" cy="896417"/>
          </a:xfrm>
          <a:prstGeom prst="rect">
            <a:avLst/>
          </a:prstGeom>
        </p:spPr>
        <p:txBody>
          <a:bodyPr anchor="t" rtlCol="false" tIns="0" lIns="0" bIns="0" rIns="0">
            <a:spAutoFit/>
          </a:bodyPr>
          <a:lstStyle/>
          <a:p>
            <a:pPr algn="ctr">
              <a:lnSpc>
                <a:spcPts val="7291"/>
              </a:lnSpc>
            </a:pPr>
            <a:r>
              <a:rPr lang="en-US" sz="5207" u="sng">
                <a:solidFill>
                  <a:srgbClr val="000000"/>
                </a:solidFill>
                <a:latin typeface="Aristotelica Pro"/>
                <a:ea typeface="Aristotelica Pro"/>
                <a:cs typeface="Aristotelica Pro"/>
                <a:sym typeface="Aristotelica Pro"/>
              </a:rPr>
              <a:t>TEAM MEMBERS:</a:t>
            </a:r>
          </a:p>
        </p:txBody>
      </p:sp>
      <p:sp>
        <p:nvSpPr>
          <p:cNvPr name="Freeform 3" id="3"/>
          <p:cNvSpPr/>
          <p:nvPr/>
        </p:nvSpPr>
        <p:spPr>
          <a:xfrm flipH="false" flipV="false" rot="-266140">
            <a:off x="15057292" y="4469433"/>
            <a:ext cx="8519572" cy="8994702"/>
          </a:xfrm>
          <a:custGeom>
            <a:avLst/>
            <a:gdLst/>
            <a:ahLst/>
            <a:cxnLst/>
            <a:rect r="r" b="b" t="t" l="l"/>
            <a:pathLst>
              <a:path h="8994702" w="8519572">
                <a:moveTo>
                  <a:pt x="0" y="0"/>
                </a:moveTo>
                <a:lnTo>
                  <a:pt x="8519572" y="0"/>
                </a:lnTo>
                <a:lnTo>
                  <a:pt x="8519572" y="8994702"/>
                </a:lnTo>
                <a:lnTo>
                  <a:pt x="0" y="8994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502360">
            <a:off x="12999514" y="-5182854"/>
            <a:ext cx="8519572" cy="8994702"/>
          </a:xfrm>
          <a:custGeom>
            <a:avLst/>
            <a:gdLst/>
            <a:ahLst/>
            <a:cxnLst/>
            <a:rect r="r" b="b" t="t" l="l"/>
            <a:pathLst>
              <a:path h="8994702" w="8519572">
                <a:moveTo>
                  <a:pt x="8519572" y="8994703"/>
                </a:moveTo>
                <a:lnTo>
                  <a:pt x="0" y="8994703"/>
                </a:lnTo>
                <a:lnTo>
                  <a:pt x="0" y="0"/>
                </a:lnTo>
                <a:lnTo>
                  <a:pt x="8519572" y="0"/>
                </a:lnTo>
                <a:lnTo>
                  <a:pt x="8519572" y="899470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412589" y="1774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6079290" y="6260989"/>
            <a:ext cx="3312520" cy="1915239"/>
          </a:xfrm>
          <a:custGeom>
            <a:avLst/>
            <a:gdLst/>
            <a:ahLst/>
            <a:cxnLst/>
            <a:rect r="r" b="b" t="t" l="l"/>
            <a:pathLst>
              <a:path h="1915239" w="3312520">
                <a:moveTo>
                  <a:pt x="0" y="0"/>
                </a:moveTo>
                <a:lnTo>
                  <a:pt x="3312520" y="0"/>
                </a:lnTo>
                <a:lnTo>
                  <a:pt x="3312520" y="1915239"/>
                </a:lnTo>
                <a:lnTo>
                  <a:pt x="0" y="19152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229126" y="2058907"/>
            <a:ext cx="13829749" cy="1647380"/>
          </a:xfrm>
          <a:prstGeom prst="rect">
            <a:avLst/>
          </a:prstGeom>
        </p:spPr>
        <p:txBody>
          <a:bodyPr anchor="t" rtlCol="false" tIns="0" lIns="0" bIns="0" rIns="0">
            <a:spAutoFit/>
          </a:bodyPr>
          <a:lstStyle/>
          <a:p>
            <a:pPr algn="ctr">
              <a:lnSpc>
                <a:spcPts val="13445"/>
              </a:lnSpc>
            </a:pPr>
            <a:r>
              <a:rPr lang="en-US" b="true" sz="9604">
                <a:solidFill>
                  <a:srgbClr val="53819B"/>
                </a:solidFill>
                <a:latin typeface="Aristotelica Pro Bold"/>
                <a:ea typeface="Aristotelica Pro Bold"/>
                <a:cs typeface="Aristotelica Pro Bold"/>
                <a:sym typeface="Aristotelica Pro Bold"/>
              </a:rPr>
              <a:t>TITLE: “CIVICCONNECT”</a:t>
            </a:r>
          </a:p>
        </p:txBody>
      </p:sp>
      <p:sp>
        <p:nvSpPr>
          <p:cNvPr name="Freeform 8" id="8"/>
          <p:cNvSpPr/>
          <p:nvPr/>
        </p:nvSpPr>
        <p:spPr>
          <a:xfrm flipH="true" flipV="false" rot="5230087">
            <a:off x="-3231086" y="-5087496"/>
            <a:ext cx="8519572" cy="8994702"/>
          </a:xfrm>
          <a:custGeom>
            <a:avLst/>
            <a:gdLst/>
            <a:ahLst/>
            <a:cxnLst/>
            <a:rect r="r" b="b" t="t" l="l"/>
            <a:pathLst>
              <a:path h="8994702" w="8519572">
                <a:moveTo>
                  <a:pt x="8519572" y="0"/>
                </a:moveTo>
                <a:lnTo>
                  <a:pt x="0" y="0"/>
                </a:lnTo>
                <a:lnTo>
                  <a:pt x="0" y="8994703"/>
                </a:lnTo>
                <a:lnTo>
                  <a:pt x="8519572" y="8994703"/>
                </a:lnTo>
                <a:lnTo>
                  <a:pt x="85195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786346" y="177405"/>
            <a:ext cx="3312520" cy="1915239"/>
          </a:xfrm>
          <a:custGeom>
            <a:avLst/>
            <a:gdLst/>
            <a:ahLst/>
            <a:cxnLst/>
            <a:rect r="r" b="b" t="t" l="l"/>
            <a:pathLst>
              <a:path h="1915239" w="3312520">
                <a:moveTo>
                  <a:pt x="3312519" y="0"/>
                </a:moveTo>
                <a:lnTo>
                  <a:pt x="0" y="0"/>
                </a:lnTo>
                <a:lnTo>
                  <a:pt x="0" y="1915238"/>
                </a:lnTo>
                <a:lnTo>
                  <a:pt x="3312519" y="1915238"/>
                </a:lnTo>
                <a:lnTo>
                  <a:pt x="33125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63478">
            <a:off x="-5209686" y="4453660"/>
            <a:ext cx="8519572" cy="8994702"/>
          </a:xfrm>
          <a:custGeom>
            <a:avLst/>
            <a:gdLst/>
            <a:ahLst/>
            <a:cxnLst/>
            <a:rect r="r" b="b" t="t" l="l"/>
            <a:pathLst>
              <a:path h="8994702" w="8519572">
                <a:moveTo>
                  <a:pt x="8519573" y="0"/>
                </a:moveTo>
                <a:lnTo>
                  <a:pt x="0" y="0"/>
                </a:lnTo>
                <a:lnTo>
                  <a:pt x="0" y="8994702"/>
                </a:lnTo>
                <a:lnTo>
                  <a:pt x="8519573" y="8994702"/>
                </a:lnTo>
                <a:lnTo>
                  <a:pt x="85195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true" rot="5400000">
            <a:off x="-656135" y="6283932"/>
            <a:ext cx="3312520" cy="1915239"/>
          </a:xfrm>
          <a:custGeom>
            <a:avLst/>
            <a:gdLst/>
            <a:ahLst/>
            <a:cxnLst/>
            <a:rect r="r" b="b" t="t" l="l"/>
            <a:pathLst>
              <a:path h="1915239" w="3312520">
                <a:moveTo>
                  <a:pt x="0" y="1915238"/>
                </a:moveTo>
                <a:lnTo>
                  <a:pt x="3312520" y="1915238"/>
                </a:lnTo>
                <a:lnTo>
                  <a:pt x="3312520" y="0"/>
                </a:lnTo>
                <a:lnTo>
                  <a:pt x="0" y="0"/>
                </a:lnTo>
                <a:lnTo>
                  <a:pt x="0" y="191523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1201329" y="5562349"/>
            <a:ext cx="5523779" cy="3155459"/>
          </a:xfrm>
          <a:custGeom>
            <a:avLst/>
            <a:gdLst/>
            <a:ahLst/>
            <a:cxnLst/>
            <a:rect r="r" b="b" t="t" l="l"/>
            <a:pathLst>
              <a:path h="3155459" w="5523779">
                <a:moveTo>
                  <a:pt x="0" y="0"/>
                </a:moveTo>
                <a:lnTo>
                  <a:pt x="5523780" y="0"/>
                </a:lnTo>
                <a:lnTo>
                  <a:pt x="5523780" y="3155459"/>
                </a:lnTo>
                <a:lnTo>
                  <a:pt x="0" y="3155459"/>
                </a:lnTo>
                <a:lnTo>
                  <a:pt x="0" y="0"/>
                </a:lnTo>
                <a:close/>
              </a:path>
            </a:pathLst>
          </a:custGeom>
          <a:blipFill>
            <a:blip r:embed="rId6"/>
            <a:stretch>
              <a:fillRect l="0" t="0" r="0" b="0"/>
            </a:stretch>
          </a:blipFill>
        </p:spPr>
      </p:sp>
      <p:sp>
        <p:nvSpPr>
          <p:cNvPr name="TextBox 13" id="13"/>
          <p:cNvSpPr txBox="true"/>
          <p:nvPr/>
        </p:nvSpPr>
        <p:spPr>
          <a:xfrm rot="0">
            <a:off x="1416513" y="6720465"/>
            <a:ext cx="8629007" cy="2177346"/>
          </a:xfrm>
          <a:prstGeom prst="rect">
            <a:avLst/>
          </a:prstGeom>
        </p:spPr>
        <p:txBody>
          <a:bodyPr anchor="t" rtlCol="false" tIns="0" lIns="0" bIns="0" rIns="0">
            <a:spAutoFit/>
          </a:bodyPr>
          <a:lstStyle/>
          <a:p>
            <a:pPr algn="ctr">
              <a:lnSpc>
                <a:spcPts val="5771"/>
              </a:lnSpc>
            </a:pPr>
            <a:r>
              <a:rPr lang="en-US" sz="4122">
                <a:solidFill>
                  <a:srgbClr val="000000"/>
                </a:solidFill>
                <a:latin typeface="Aristotelica Pro"/>
                <a:ea typeface="Aristotelica Pro"/>
                <a:cs typeface="Aristotelica Pro"/>
                <a:sym typeface="Aristotelica Pro"/>
              </a:rPr>
              <a:t>1)P.Lahari(1602-22-737-147)</a:t>
            </a:r>
          </a:p>
          <a:p>
            <a:pPr algn="ctr">
              <a:lnSpc>
                <a:spcPts val="5771"/>
              </a:lnSpc>
            </a:pPr>
            <a:r>
              <a:rPr lang="en-US" sz="4122">
                <a:solidFill>
                  <a:srgbClr val="000000"/>
                </a:solidFill>
                <a:latin typeface="Aristotelica Pro"/>
                <a:ea typeface="Aristotelica Pro"/>
                <a:cs typeface="Aristotelica Pro"/>
                <a:sym typeface="Aristotelica Pro"/>
              </a:rPr>
              <a:t>2)T.Sanjay(1602-22-737-172)</a:t>
            </a:r>
          </a:p>
          <a:p>
            <a:pPr algn="ctr">
              <a:lnSpc>
                <a:spcPts val="5771"/>
              </a:lnSpc>
              <a:spcBef>
                <a:spcPct val="0"/>
              </a:spcBef>
            </a:pPr>
            <a:r>
              <a:rPr lang="en-US" sz="4122">
                <a:solidFill>
                  <a:srgbClr val="000000"/>
                </a:solidFill>
                <a:latin typeface="Aristotelica Pro"/>
                <a:ea typeface="Aristotelica Pro"/>
                <a:cs typeface="Aristotelica Pro"/>
                <a:sym typeface="Aristotelica Pro"/>
              </a:rPr>
              <a:t>        3)V.Madhurasri(1602-22-737-148)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64730" y="857250"/>
            <a:ext cx="12142629" cy="1420690"/>
          </a:xfrm>
          <a:prstGeom prst="rect">
            <a:avLst/>
          </a:prstGeom>
        </p:spPr>
        <p:txBody>
          <a:bodyPr anchor="t" rtlCol="false" tIns="0" lIns="0" bIns="0" rIns="0">
            <a:spAutoFit/>
          </a:bodyPr>
          <a:lstStyle/>
          <a:p>
            <a:pPr algn="ctr">
              <a:lnSpc>
                <a:spcPts val="11469"/>
              </a:lnSpc>
            </a:pPr>
            <a:r>
              <a:rPr lang="en-US" b="true" sz="8192">
                <a:solidFill>
                  <a:srgbClr val="53819B"/>
                </a:solidFill>
                <a:latin typeface="Aristotelica Pro Bold"/>
                <a:ea typeface="Aristotelica Pro Bold"/>
                <a:cs typeface="Aristotelica Pro Bold"/>
                <a:sym typeface="Aristotelica Pro Bold"/>
              </a:rPr>
              <a:t>PROBLEM STATEMENT:</a:t>
            </a:r>
          </a:p>
        </p:txBody>
      </p:sp>
      <p:sp>
        <p:nvSpPr>
          <p:cNvPr name="Freeform 3" id="3"/>
          <p:cNvSpPr/>
          <p:nvPr/>
        </p:nvSpPr>
        <p:spPr>
          <a:xfrm flipH="false" flipV="false" rot="-266140">
            <a:off x="15057292" y="4469433"/>
            <a:ext cx="8519572" cy="8994702"/>
          </a:xfrm>
          <a:custGeom>
            <a:avLst/>
            <a:gdLst/>
            <a:ahLst/>
            <a:cxnLst/>
            <a:rect r="r" b="b" t="t" l="l"/>
            <a:pathLst>
              <a:path h="8994702" w="8519572">
                <a:moveTo>
                  <a:pt x="0" y="0"/>
                </a:moveTo>
                <a:lnTo>
                  <a:pt x="8519572" y="0"/>
                </a:lnTo>
                <a:lnTo>
                  <a:pt x="8519572" y="8994702"/>
                </a:lnTo>
                <a:lnTo>
                  <a:pt x="0" y="8994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502360">
            <a:off x="14289538" y="-4319947"/>
            <a:ext cx="8519572" cy="8994702"/>
          </a:xfrm>
          <a:custGeom>
            <a:avLst/>
            <a:gdLst/>
            <a:ahLst/>
            <a:cxnLst/>
            <a:rect r="r" b="b" t="t" l="l"/>
            <a:pathLst>
              <a:path h="8994702" w="8519572">
                <a:moveTo>
                  <a:pt x="8519572" y="8994703"/>
                </a:moveTo>
                <a:lnTo>
                  <a:pt x="0" y="8994703"/>
                </a:lnTo>
                <a:lnTo>
                  <a:pt x="0" y="0"/>
                </a:lnTo>
                <a:lnTo>
                  <a:pt x="8519572" y="0"/>
                </a:lnTo>
                <a:lnTo>
                  <a:pt x="8519572" y="899470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975480" y="478336"/>
            <a:ext cx="3312520" cy="1915239"/>
          </a:xfrm>
          <a:custGeom>
            <a:avLst/>
            <a:gdLst/>
            <a:ahLst/>
            <a:cxnLst/>
            <a:rect r="r" b="b" t="t" l="l"/>
            <a:pathLst>
              <a:path h="1915239" w="3312520">
                <a:moveTo>
                  <a:pt x="0" y="0"/>
                </a:moveTo>
                <a:lnTo>
                  <a:pt x="3312520" y="0"/>
                </a:lnTo>
                <a:lnTo>
                  <a:pt x="3312520" y="1915239"/>
                </a:lnTo>
                <a:lnTo>
                  <a:pt x="0" y="19152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075140" y="2536613"/>
            <a:ext cx="14556600" cy="3998487"/>
          </a:xfrm>
          <a:prstGeom prst="rect">
            <a:avLst/>
          </a:prstGeom>
        </p:spPr>
        <p:txBody>
          <a:bodyPr anchor="t" rtlCol="false" tIns="0" lIns="0" bIns="0" rIns="0">
            <a:spAutoFit/>
          </a:bodyPr>
          <a:lstStyle/>
          <a:p>
            <a:pPr algn="ctr">
              <a:lnSpc>
                <a:spcPts val="4580"/>
              </a:lnSpc>
            </a:pPr>
            <a:r>
              <a:rPr lang="en-US" sz="3271">
                <a:solidFill>
                  <a:srgbClr val="000000"/>
                </a:solidFill>
                <a:latin typeface="Aristotelica Pro"/>
                <a:ea typeface="Aristotelica Pro"/>
                <a:cs typeface="Aristotelica Pro"/>
                <a:sym typeface="Aristotelica Pro"/>
              </a:rPr>
              <a:t>Civic engagement in many communities remains fragmented, with citizens facing challenges in effectively communicating local issues to authorities and receiving timely resolutions. Traditional reporting methods often lead to delayed responses, miscommunication, and a lack of transparency, hindering efficient governance and public satisfaction. Additionally, without a centralized system to prioritize incidents or track progress, both citizens and local authorities struggle to address issue in an organized and data-driven manner.</a:t>
            </a:r>
          </a:p>
        </p:txBody>
      </p:sp>
      <p:sp>
        <p:nvSpPr>
          <p:cNvPr name="Freeform 7" id="7"/>
          <p:cNvSpPr/>
          <p:nvPr/>
        </p:nvSpPr>
        <p:spPr>
          <a:xfrm flipH="false" flipV="false" rot="5400000">
            <a:off x="15603040" y="63529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5230087">
            <a:off x="-3863237" y="-4717879"/>
            <a:ext cx="8519572" cy="8994702"/>
          </a:xfrm>
          <a:custGeom>
            <a:avLst/>
            <a:gdLst/>
            <a:ahLst/>
            <a:cxnLst/>
            <a:rect r="r" b="b" t="t" l="l"/>
            <a:pathLst>
              <a:path h="8994702" w="8519572">
                <a:moveTo>
                  <a:pt x="8519572" y="0"/>
                </a:moveTo>
                <a:lnTo>
                  <a:pt x="0" y="0"/>
                </a:lnTo>
                <a:lnTo>
                  <a:pt x="0" y="8994703"/>
                </a:lnTo>
                <a:lnTo>
                  <a:pt x="8519572" y="8994703"/>
                </a:lnTo>
                <a:lnTo>
                  <a:pt x="85195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301484" y="673568"/>
            <a:ext cx="3312520" cy="1915239"/>
          </a:xfrm>
          <a:custGeom>
            <a:avLst/>
            <a:gdLst/>
            <a:ahLst/>
            <a:cxnLst/>
            <a:rect r="r" b="b" t="t" l="l"/>
            <a:pathLst>
              <a:path h="1915239" w="3312520">
                <a:moveTo>
                  <a:pt x="3312520" y="0"/>
                </a:moveTo>
                <a:lnTo>
                  <a:pt x="0" y="0"/>
                </a:lnTo>
                <a:lnTo>
                  <a:pt x="0" y="1915238"/>
                </a:lnTo>
                <a:lnTo>
                  <a:pt x="3312520" y="1915238"/>
                </a:lnTo>
                <a:lnTo>
                  <a:pt x="331252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63478">
            <a:off x="-5209686" y="4453660"/>
            <a:ext cx="8519572" cy="8994702"/>
          </a:xfrm>
          <a:custGeom>
            <a:avLst/>
            <a:gdLst/>
            <a:ahLst/>
            <a:cxnLst/>
            <a:rect r="r" b="b" t="t" l="l"/>
            <a:pathLst>
              <a:path h="8994702" w="8519572">
                <a:moveTo>
                  <a:pt x="8519573" y="0"/>
                </a:moveTo>
                <a:lnTo>
                  <a:pt x="0" y="0"/>
                </a:lnTo>
                <a:lnTo>
                  <a:pt x="0" y="8994702"/>
                </a:lnTo>
                <a:lnTo>
                  <a:pt x="8519573" y="8994702"/>
                </a:lnTo>
                <a:lnTo>
                  <a:pt x="85195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true" rot="5400000">
            <a:off x="-656135" y="6283932"/>
            <a:ext cx="3312520" cy="1915239"/>
          </a:xfrm>
          <a:custGeom>
            <a:avLst/>
            <a:gdLst/>
            <a:ahLst/>
            <a:cxnLst/>
            <a:rect r="r" b="b" t="t" l="l"/>
            <a:pathLst>
              <a:path h="1915239" w="3312520">
                <a:moveTo>
                  <a:pt x="0" y="1915238"/>
                </a:moveTo>
                <a:lnTo>
                  <a:pt x="3312520" y="1915238"/>
                </a:lnTo>
                <a:lnTo>
                  <a:pt x="3312520" y="0"/>
                </a:lnTo>
                <a:lnTo>
                  <a:pt x="0" y="0"/>
                </a:lnTo>
                <a:lnTo>
                  <a:pt x="0" y="191523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72540" y="6958273"/>
            <a:ext cx="5927009" cy="3229494"/>
          </a:xfrm>
          <a:custGeom>
            <a:avLst/>
            <a:gdLst/>
            <a:ahLst/>
            <a:cxnLst/>
            <a:rect r="r" b="b" t="t" l="l"/>
            <a:pathLst>
              <a:path h="3229494" w="5927009">
                <a:moveTo>
                  <a:pt x="0" y="0"/>
                </a:moveTo>
                <a:lnTo>
                  <a:pt x="5927009" y="0"/>
                </a:lnTo>
                <a:lnTo>
                  <a:pt x="5927009" y="3229494"/>
                </a:lnTo>
                <a:lnTo>
                  <a:pt x="0" y="3229494"/>
                </a:lnTo>
                <a:lnTo>
                  <a:pt x="0" y="0"/>
                </a:lnTo>
                <a:close/>
              </a:path>
            </a:pathLst>
          </a:custGeom>
          <a:blipFill>
            <a:blip r:embed="rId6"/>
            <a:stretch>
              <a:fillRect l="-1347" t="-524" r="0" b="-524"/>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776178" y="963574"/>
            <a:ext cx="8537178" cy="1414154"/>
          </a:xfrm>
          <a:prstGeom prst="rect">
            <a:avLst/>
          </a:prstGeom>
        </p:spPr>
        <p:txBody>
          <a:bodyPr anchor="t" rtlCol="false" tIns="0" lIns="0" bIns="0" rIns="0">
            <a:spAutoFit/>
          </a:bodyPr>
          <a:lstStyle/>
          <a:p>
            <a:pPr algn="ctr">
              <a:lnSpc>
                <a:spcPts val="11469"/>
              </a:lnSpc>
            </a:pPr>
            <a:r>
              <a:rPr lang="en-US" b="true" sz="8192">
                <a:solidFill>
                  <a:srgbClr val="53819B"/>
                </a:solidFill>
                <a:latin typeface="Aristotelica Pro Bold"/>
                <a:ea typeface="Aristotelica Pro Bold"/>
                <a:cs typeface="Aristotelica Pro Bold"/>
                <a:sym typeface="Aristotelica Pro Bold"/>
              </a:rPr>
              <a:t>MOTIVATION </a:t>
            </a:r>
          </a:p>
        </p:txBody>
      </p:sp>
      <p:sp>
        <p:nvSpPr>
          <p:cNvPr name="TextBox 3" id="3"/>
          <p:cNvSpPr txBox="true"/>
          <p:nvPr/>
        </p:nvSpPr>
        <p:spPr>
          <a:xfrm rot="0">
            <a:off x="1028700" y="2490708"/>
            <a:ext cx="15935781" cy="4657575"/>
          </a:xfrm>
          <a:prstGeom prst="rect">
            <a:avLst/>
          </a:prstGeom>
        </p:spPr>
        <p:txBody>
          <a:bodyPr anchor="t" rtlCol="false" tIns="0" lIns="0" bIns="0" rIns="0">
            <a:spAutoFit/>
          </a:bodyPr>
          <a:lstStyle/>
          <a:p>
            <a:pPr algn="l" marL="568009" indent="-284004" lvl="1">
              <a:lnSpc>
                <a:spcPts val="3683"/>
              </a:lnSpc>
              <a:buFont typeface="Arial"/>
              <a:buChar char="•"/>
            </a:pPr>
            <a:r>
              <a:rPr lang="en-US" sz="2630">
                <a:solidFill>
                  <a:srgbClr val="000000"/>
                </a:solidFill>
                <a:latin typeface="Aristotelica Pro"/>
                <a:ea typeface="Aristotelica Pro"/>
                <a:cs typeface="Aristotelica Pro"/>
                <a:sym typeface="Aristotelica Pro"/>
              </a:rPr>
              <a:t> Inefficient Communication: Traditional methods of reporting civic issues are slow, leading to delays in</a:t>
            </a:r>
            <a:r>
              <a:rPr lang="en-US" sz="2630">
                <a:solidFill>
                  <a:srgbClr val="000000"/>
                </a:solidFill>
                <a:latin typeface="Aristotelica Pro"/>
                <a:ea typeface="Aristotelica Pro"/>
                <a:cs typeface="Aristotelica Pro"/>
                <a:sym typeface="Aristotelica Pro"/>
              </a:rPr>
              <a:t> responses.</a:t>
            </a:r>
          </a:p>
          <a:p>
            <a:pPr algn="l" marL="568009" indent="-284004" lvl="1">
              <a:lnSpc>
                <a:spcPts val="3683"/>
              </a:lnSpc>
              <a:buFont typeface="Arial"/>
              <a:buChar char="•"/>
            </a:pPr>
            <a:r>
              <a:rPr lang="en-US" sz="2630">
                <a:solidFill>
                  <a:srgbClr val="000000"/>
                </a:solidFill>
                <a:latin typeface="Aristotelica Pro"/>
                <a:ea typeface="Aristotelica Pro"/>
                <a:cs typeface="Aristotelica Pro"/>
                <a:sym typeface="Aristotelica Pro"/>
              </a:rPr>
              <a:t>Citizen Frustration: Lack of real-time updates and transparency causes frustration, making citizens feel </a:t>
            </a:r>
          </a:p>
          <a:p>
            <a:pPr algn="l">
              <a:lnSpc>
                <a:spcPts val="3683"/>
              </a:lnSpc>
            </a:pPr>
            <a:r>
              <a:rPr lang="en-US" sz="2630">
                <a:solidFill>
                  <a:srgbClr val="000000"/>
                </a:solidFill>
                <a:latin typeface="Aristotelica Pro"/>
                <a:ea typeface="Aristotelica Pro"/>
                <a:cs typeface="Aristotelica Pro"/>
                <a:sym typeface="Aristotelica Pro"/>
              </a:rPr>
              <a:t>      </a:t>
            </a:r>
            <a:r>
              <a:rPr lang="en-US" sz="2630">
                <a:solidFill>
                  <a:srgbClr val="000000"/>
                </a:solidFill>
                <a:latin typeface="Aristotelica Pro"/>
                <a:ea typeface="Aristotelica Pro"/>
                <a:cs typeface="Aristotelica Pro"/>
                <a:sym typeface="Aristotelica Pro"/>
              </a:rPr>
              <a:t>disconnected from authorities.</a:t>
            </a:r>
          </a:p>
          <a:p>
            <a:pPr algn="l" marL="568009" indent="-284004" lvl="1">
              <a:lnSpc>
                <a:spcPts val="3683"/>
              </a:lnSpc>
              <a:buFont typeface="Arial"/>
              <a:buChar char="•"/>
            </a:pPr>
            <a:r>
              <a:rPr lang="en-US" sz="2630">
                <a:solidFill>
                  <a:srgbClr val="000000"/>
                </a:solidFill>
                <a:latin typeface="Aristotelica Pro"/>
                <a:ea typeface="Aristotelica Pro"/>
                <a:cs typeface="Aristotelica Pro"/>
                <a:sym typeface="Aristotelica Pro"/>
              </a:rPr>
              <a:t>Growing Urban Issues: As cities grow, the number of civic problems increases, requiring faster and more</a:t>
            </a:r>
          </a:p>
          <a:p>
            <a:pPr algn="l">
              <a:lnSpc>
                <a:spcPts val="3683"/>
              </a:lnSpc>
            </a:pPr>
            <a:r>
              <a:rPr lang="en-US" sz="2630">
                <a:solidFill>
                  <a:srgbClr val="000000"/>
                </a:solidFill>
                <a:latin typeface="Aristotelica Pro"/>
                <a:ea typeface="Aristotelica Pro"/>
                <a:cs typeface="Aristotelica Pro"/>
                <a:sym typeface="Aristotelica Pro"/>
              </a:rPr>
              <a:t>      </a:t>
            </a:r>
            <a:r>
              <a:rPr lang="en-US" sz="2630">
                <a:solidFill>
                  <a:srgbClr val="000000"/>
                </a:solidFill>
                <a:latin typeface="Aristotelica Pro"/>
                <a:ea typeface="Aristotelica Pro"/>
                <a:cs typeface="Aristotelica Pro"/>
                <a:sym typeface="Aristotelica Pro"/>
              </a:rPr>
              <a:t> efficient solutions.</a:t>
            </a:r>
          </a:p>
          <a:p>
            <a:pPr algn="l" marL="568009" indent="-284004" lvl="1">
              <a:lnSpc>
                <a:spcPts val="3683"/>
              </a:lnSpc>
              <a:buFont typeface="Arial"/>
              <a:buChar char="•"/>
            </a:pPr>
            <a:r>
              <a:rPr lang="en-US" sz="2630">
                <a:solidFill>
                  <a:srgbClr val="000000"/>
                </a:solidFill>
                <a:latin typeface="Aristotelica Pro"/>
                <a:ea typeface="Aristotelica Pro"/>
                <a:cs typeface="Aristotelica Pro"/>
                <a:sym typeface="Aristotelica Pro"/>
              </a:rPr>
              <a:t>Need for Transparency: Citizens expect better accountability and transparency in how their issues are  reported and resolved.</a:t>
            </a:r>
          </a:p>
          <a:p>
            <a:pPr algn="l" marL="568009" indent="-284004" lvl="1">
              <a:lnSpc>
                <a:spcPts val="3683"/>
              </a:lnSpc>
              <a:buFont typeface="Arial"/>
              <a:buChar char="•"/>
            </a:pPr>
            <a:r>
              <a:rPr lang="en-US" sz="2630">
                <a:solidFill>
                  <a:srgbClr val="000000"/>
                </a:solidFill>
                <a:latin typeface="Aristotelica Pro"/>
                <a:ea typeface="Aristotelica Pro"/>
                <a:cs typeface="Aristotelica Pro"/>
                <a:sym typeface="Aristotelica Pro"/>
              </a:rPr>
              <a:t>Opportunity for Technology: Digital platforms can improve the speed of reporting, provide real-time</a:t>
            </a:r>
          </a:p>
          <a:p>
            <a:pPr algn="l">
              <a:lnSpc>
                <a:spcPts val="3683"/>
              </a:lnSpc>
            </a:pPr>
            <a:r>
              <a:rPr lang="en-US" sz="2630">
                <a:solidFill>
                  <a:srgbClr val="000000"/>
                </a:solidFill>
                <a:latin typeface="Aristotelica Pro"/>
                <a:ea typeface="Aristotelica Pro"/>
                <a:cs typeface="Aristotelica Pro"/>
                <a:sym typeface="Aristotelica Pro"/>
              </a:rPr>
              <a:t>                    </a:t>
            </a:r>
            <a:r>
              <a:rPr lang="en-US" sz="2630">
                <a:solidFill>
                  <a:srgbClr val="000000"/>
                </a:solidFill>
                <a:latin typeface="Aristotelica Pro"/>
                <a:ea typeface="Aristotelica Pro"/>
                <a:cs typeface="Aristotelica Pro"/>
                <a:sym typeface="Aristotelica Pro"/>
              </a:rPr>
              <a:t> updates, and enhance communication between citizens and local governments.</a:t>
            </a:r>
          </a:p>
        </p:txBody>
      </p:sp>
      <p:sp>
        <p:nvSpPr>
          <p:cNvPr name="Freeform 4" id="4"/>
          <p:cNvSpPr/>
          <p:nvPr/>
        </p:nvSpPr>
        <p:spPr>
          <a:xfrm flipH="false" flipV="false" rot="-266140">
            <a:off x="15702303" y="4760949"/>
            <a:ext cx="8519572" cy="8994702"/>
          </a:xfrm>
          <a:custGeom>
            <a:avLst/>
            <a:gdLst/>
            <a:ahLst/>
            <a:cxnLst/>
            <a:rect r="r" b="b" t="t" l="l"/>
            <a:pathLst>
              <a:path h="8994702" w="8519572">
                <a:moveTo>
                  <a:pt x="0" y="0"/>
                </a:moveTo>
                <a:lnTo>
                  <a:pt x="8519573" y="0"/>
                </a:lnTo>
                <a:lnTo>
                  <a:pt x="8519573" y="8994702"/>
                </a:lnTo>
                <a:lnTo>
                  <a:pt x="0" y="8994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5502360">
            <a:off x="14138832" y="-5097865"/>
            <a:ext cx="8519572" cy="8994702"/>
          </a:xfrm>
          <a:custGeom>
            <a:avLst/>
            <a:gdLst/>
            <a:ahLst/>
            <a:cxnLst/>
            <a:rect r="r" b="b" t="t" l="l"/>
            <a:pathLst>
              <a:path h="8994702" w="8519572">
                <a:moveTo>
                  <a:pt x="8519573" y="8994702"/>
                </a:moveTo>
                <a:lnTo>
                  <a:pt x="0" y="8994702"/>
                </a:lnTo>
                <a:lnTo>
                  <a:pt x="0" y="0"/>
                </a:lnTo>
                <a:lnTo>
                  <a:pt x="8519573" y="0"/>
                </a:lnTo>
                <a:lnTo>
                  <a:pt x="8519573" y="899470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367238" y="71081"/>
            <a:ext cx="3312520" cy="1915239"/>
          </a:xfrm>
          <a:custGeom>
            <a:avLst/>
            <a:gdLst/>
            <a:ahLst/>
            <a:cxnLst/>
            <a:rect r="r" b="b" t="t" l="l"/>
            <a:pathLst>
              <a:path h="1915239" w="3312520">
                <a:moveTo>
                  <a:pt x="0" y="0"/>
                </a:moveTo>
                <a:lnTo>
                  <a:pt x="3312519" y="0"/>
                </a:lnTo>
                <a:lnTo>
                  <a:pt x="3312519"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6560659" y="5467593"/>
            <a:ext cx="3312520" cy="1915239"/>
          </a:xfrm>
          <a:custGeom>
            <a:avLst/>
            <a:gdLst/>
            <a:ahLst/>
            <a:cxnLst/>
            <a:rect r="r" b="b" t="t" l="l"/>
            <a:pathLst>
              <a:path h="1915239" w="3312520">
                <a:moveTo>
                  <a:pt x="0" y="0"/>
                </a:moveTo>
                <a:lnTo>
                  <a:pt x="3312520" y="0"/>
                </a:lnTo>
                <a:lnTo>
                  <a:pt x="3312520" y="1915239"/>
                </a:lnTo>
                <a:lnTo>
                  <a:pt x="0" y="19152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5230087">
            <a:off x="-3760327" y="-5182854"/>
            <a:ext cx="8519572" cy="8994702"/>
          </a:xfrm>
          <a:custGeom>
            <a:avLst/>
            <a:gdLst/>
            <a:ahLst/>
            <a:cxnLst/>
            <a:rect r="r" b="b" t="t" l="l"/>
            <a:pathLst>
              <a:path h="8994702" w="8519572">
                <a:moveTo>
                  <a:pt x="8519573" y="0"/>
                </a:moveTo>
                <a:lnTo>
                  <a:pt x="0" y="0"/>
                </a:lnTo>
                <a:lnTo>
                  <a:pt x="0" y="8994703"/>
                </a:lnTo>
                <a:lnTo>
                  <a:pt x="8519573" y="8994703"/>
                </a:lnTo>
                <a:lnTo>
                  <a:pt x="85195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645171" y="0"/>
            <a:ext cx="3312520" cy="1915239"/>
          </a:xfrm>
          <a:custGeom>
            <a:avLst/>
            <a:gdLst/>
            <a:ahLst/>
            <a:cxnLst/>
            <a:rect r="r" b="b" t="t" l="l"/>
            <a:pathLst>
              <a:path h="1915239" w="3312520">
                <a:moveTo>
                  <a:pt x="3312519" y="0"/>
                </a:moveTo>
                <a:lnTo>
                  <a:pt x="0" y="0"/>
                </a:lnTo>
                <a:lnTo>
                  <a:pt x="0" y="1915239"/>
                </a:lnTo>
                <a:lnTo>
                  <a:pt x="3312519" y="1915239"/>
                </a:lnTo>
                <a:lnTo>
                  <a:pt x="33125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63478">
            <a:off x="-5540461" y="4966362"/>
            <a:ext cx="8519572" cy="8994702"/>
          </a:xfrm>
          <a:custGeom>
            <a:avLst/>
            <a:gdLst/>
            <a:ahLst/>
            <a:cxnLst/>
            <a:rect r="r" b="b" t="t" l="l"/>
            <a:pathLst>
              <a:path h="8994702" w="8519572">
                <a:moveTo>
                  <a:pt x="8519572" y="0"/>
                </a:moveTo>
                <a:lnTo>
                  <a:pt x="0" y="0"/>
                </a:lnTo>
                <a:lnTo>
                  <a:pt x="0" y="8994702"/>
                </a:lnTo>
                <a:lnTo>
                  <a:pt x="8519572" y="8994702"/>
                </a:lnTo>
                <a:lnTo>
                  <a:pt x="85195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true" rot="5400000">
            <a:off x="-1404025" y="7123853"/>
            <a:ext cx="3312520" cy="1915239"/>
          </a:xfrm>
          <a:custGeom>
            <a:avLst/>
            <a:gdLst/>
            <a:ahLst/>
            <a:cxnLst/>
            <a:rect r="r" b="b" t="t" l="l"/>
            <a:pathLst>
              <a:path h="1915239" w="3312520">
                <a:moveTo>
                  <a:pt x="0" y="1915239"/>
                </a:moveTo>
                <a:lnTo>
                  <a:pt x="3312520" y="1915239"/>
                </a:lnTo>
                <a:lnTo>
                  <a:pt x="3312520" y="0"/>
                </a:lnTo>
                <a:lnTo>
                  <a:pt x="0" y="0"/>
                </a:lnTo>
                <a:lnTo>
                  <a:pt x="0" y="1915239"/>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776178" y="1492814"/>
            <a:ext cx="8537178" cy="1414154"/>
          </a:xfrm>
          <a:prstGeom prst="rect">
            <a:avLst/>
          </a:prstGeom>
        </p:spPr>
        <p:txBody>
          <a:bodyPr anchor="t" rtlCol="false" tIns="0" lIns="0" bIns="0" rIns="0">
            <a:spAutoFit/>
          </a:bodyPr>
          <a:lstStyle/>
          <a:p>
            <a:pPr algn="ctr">
              <a:lnSpc>
                <a:spcPts val="11469"/>
              </a:lnSpc>
            </a:pPr>
            <a:r>
              <a:rPr lang="en-US" b="true" sz="8192">
                <a:solidFill>
                  <a:srgbClr val="53819B"/>
                </a:solidFill>
                <a:latin typeface="Aristotelica Pro Bold"/>
                <a:ea typeface="Aristotelica Pro Bold"/>
                <a:cs typeface="Aristotelica Pro Bold"/>
                <a:sym typeface="Aristotelica Pro Bold"/>
              </a:rPr>
              <a:t>ABSTRACT:?</a:t>
            </a:r>
          </a:p>
        </p:txBody>
      </p:sp>
      <p:sp>
        <p:nvSpPr>
          <p:cNvPr name="TextBox 3" id="3"/>
          <p:cNvSpPr txBox="true"/>
          <p:nvPr/>
        </p:nvSpPr>
        <p:spPr>
          <a:xfrm rot="0">
            <a:off x="1430133" y="3136197"/>
            <a:ext cx="15724984" cy="4480581"/>
          </a:xfrm>
          <a:prstGeom prst="rect">
            <a:avLst/>
          </a:prstGeom>
        </p:spPr>
        <p:txBody>
          <a:bodyPr anchor="t" rtlCol="false" tIns="0" lIns="0" bIns="0" rIns="0">
            <a:spAutoFit/>
          </a:bodyPr>
          <a:lstStyle/>
          <a:p>
            <a:pPr algn="l" marL="692016" indent="-346008" lvl="1">
              <a:lnSpc>
                <a:spcPts val="4487"/>
              </a:lnSpc>
              <a:buFont typeface="Arial"/>
              <a:buChar char="•"/>
            </a:pPr>
            <a:r>
              <a:rPr lang="en-US" sz="3205">
                <a:solidFill>
                  <a:srgbClr val="000000"/>
                </a:solidFill>
                <a:latin typeface="Aristotelica Pro"/>
                <a:ea typeface="Aristotelica Pro"/>
                <a:cs typeface="Aristotelica Pro"/>
                <a:sym typeface="Aristotelica Pro"/>
              </a:rPr>
              <a:t>CivicConnect is a digital platform designed to bridge the communication gap between citizens and local governments, enabling efficient reporting, tracking, and resolution of civic issues. Through features such as real-time issue tracking, community forums, blockchain for transparency, AI-powered prioritization, and gamification for engagement, CivicConnect aims to streamline civic processes. By providing citizens with a user-friendly space for active participation and local authorities with data-driven insights, CivicConnect enhances collaboration, accountability, and overall community well-being.</a:t>
            </a:r>
          </a:p>
        </p:txBody>
      </p:sp>
      <p:sp>
        <p:nvSpPr>
          <p:cNvPr name="Freeform 4" id="4"/>
          <p:cNvSpPr/>
          <p:nvPr/>
        </p:nvSpPr>
        <p:spPr>
          <a:xfrm flipH="false" flipV="false" rot="-266140">
            <a:off x="15057292" y="4469433"/>
            <a:ext cx="8519572" cy="8994702"/>
          </a:xfrm>
          <a:custGeom>
            <a:avLst/>
            <a:gdLst/>
            <a:ahLst/>
            <a:cxnLst/>
            <a:rect r="r" b="b" t="t" l="l"/>
            <a:pathLst>
              <a:path h="8994702" w="8519572">
                <a:moveTo>
                  <a:pt x="0" y="0"/>
                </a:moveTo>
                <a:lnTo>
                  <a:pt x="8519572" y="0"/>
                </a:lnTo>
                <a:lnTo>
                  <a:pt x="8519572" y="8994702"/>
                </a:lnTo>
                <a:lnTo>
                  <a:pt x="0" y="8994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5502360">
            <a:off x="12999514" y="-5182854"/>
            <a:ext cx="8519572" cy="8994702"/>
          </a:xfrm>
          <a:custGeom>
            <a:avLst/>
            <a:gdLst/>
            <a:ahLst/>
            <a:cxnLst/>
            <a:rect r="r" b="b" t="t" l="l"/>
            <a:pathLst>
              <a:path h="8994702" w="8519572">
                <a:moveTo>
                  <a:pt x="8519572" y="8994703"/>
                </a:moveTo>
                <a:lnTo>
                  <a:pt x="0" y="8994703"/>
                </a:lnTo>
                <a:lnTo>
                  <a:pt x="0" y="0"/>
                </a:lnTo>
                <a:lnTo>
                  <a:pt x="8519572" y="0"/>
                </a:lnTo>
                <a:lnTo>
                  <a:pt x="8519572" y="899470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412589" y="1774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5603040" y="63529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5230087">
            <a:off x="-3231086" y="-5087496"/>
            <a:ext cx="8519572" cy="8994702"/>
          </a:xfrm>
          <a:custGeom>
            <a:avLst/>
            <a:gdLst/>
            <a:ahLst/>
            <a:cxnLst/>
            <a:rect r="r" b="b" t="t" l="l"/>
            <a:pathLst>
              <a:path h="8994702" w="8519572">
                <a:moveTo>
                  <a:pt x="8519572" y="0"/>
                </a:moveTo>
                <a:lnTo>
                  <a:pt x="0" y="0"/>
                </a:lnTo>
                <a:lnTo>
                  <a:pt x="0" y="8994703"/>
                </a:lnTo>
                <a:lnTo>
                  <a:pt x="8519572" y="8994703"/>
                </a:lnTo>
                <a:lnTo>
                  <a:pt x="85195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786346" y="177405"/>
            <a:ext cx="3312520" cy="1915239"/>
          </a:xfrm>
          <a:custGeom>
            <a:avLst/>
            <a:gdLst/>
            <a:ahLst/>
            <a:cxnLst/>
            <a:rect r="r" b="b" t="t" l="l"/>
            <a:pathLst>
              <a:path h="1915239" w="3312520">
                <a:moveTo>
                  <a:pt x="3312519" y="0"/>
                </a:moveTo>
                <a:lnTo>
                  <a:pt x="0" y="0"/>
                </a:lnTo>
                <a:lnTo>
                  <a:pt x="0" y="1915238"/>
                </a:lnTo>
                <a:lnTo>
                  <a:pt x="3312519" y="1915238"/>
                </a:lnTo>
                <a:lnTo>
                  <a:pt x="33125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63478">
            <a:off x="-5209686" y="4453660"/>
            <a:ext cx="8519572" cy="8994702"/>
          </a:xfrm>
          <a:custGeom>
            <a:avLst/>
            <a:gdLst/>
            <a:ahLst/>
            <a:cxnLst/>
            <a:rect r="r" b="b" t="t" l="l"/>
            <a:pathLst>
              <a:path h="8994702" w="8519572">
                <a:moveTo>
                  <a:pt x="8519573" y="0"/>
                </a:moveTo>
                <a:lnTo>
                  <a:pt x="0" y="0"/>
                </a:lnTo>
                <a:lnTo>
                  <a:pt x="0" y="8994702"/>
                </a:lnTo>
                <a:lnTo>
                  <a:pt x="8519573" y="8994702"/>
                </a:lnTo>
                <a:lnTo>
                  <a:pt x="85195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true" rot="5400000">
            <a:off x="-656135" y="6283932"/>
            <a:ext cx="3312520" cy="1915239"/>
          </a:xfrm>
          <a:custGeom>
            <a:avLst/>
            <a:gdLst/>
            <a:ahLst/>
            <a:cxnLst/>
            <a:rect r="r" b="b" t="t" l="l"/>
            <a:pathLst>
              <a:path h="1915239" w="3312520">
                <a:moveTo>
                  <a:pt x="0" y="1915238"/>
                </a:moveTo>
                <a:lnTo>
                  <a:pt x="3312520" y="1915238"/>
                </a:lnTo>
                <a:lnTo>
                  <a:pt x="3312520" y="0"/>
                </a:lnTo>
                <a:lnTo>
                  <a:pt x="0" y="0"/>
                </a:lnTo>
                <a:lnTo>
                  <a:pt x="0" y="1915238"/>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18857" y="1793906"/>
            <a:ext cx="11281333" cy="1076048"/>
          </a:xfrm>
          <a:prstGeom prst="rect">
            <a:avLst/>
          </a:prstGeom>
        </p:spPr>
        <p:txBody>
          <a:bodyPr anchor="t" rtlCol="false" tIns="0" lIns="0" bIns="0" rIns="0">
            <a:spAutoFit/>
          </a:bodyPr>
          <a:lstStyle/>
          <a:p>
            <a:pPr algn="ctr">
              <a:lnSpc>
                <a:spcPts val="8700"/>
              </a:lnSpc>
            </a:pPr>
            <a:r>
              <a:rPr lang="en-US" b="true" sz="6214">
                <a:solidFill>
                  <a:srgbClr val="53819B"/>
                </a:solidFill>
                <a:latin typeface="Aristotelica Pro Bold"/>
                <a:ea typeface="Aristotelica Pro Bold"/>
                <a:cs typeface="Aristotelica Pro Bold"/>
                <a:sym typeface="Aristotelica Pro Bold"/>
              </a:rPr>
              <a:t>DEMONSTRABLE FEATURES:?</a:t>
            </a:r>
          </a:p>
        </p:txBody>
      </p:sp>
      <p:sp>
        <p:nvSpPr>
          <p:cNvPr name="TextBox 3" id="3"/>
          <p:cNvSpPr txBox="true"/>
          <p:nvPr/>
        </p:nvSpPr>
        <p:spPr>
          <a:xfrm rot="0">
            <a:off x="1534802" y="2803278"/>
            <a:ext cx="16104430" cy="4759979"/>
          </a:xfrm>
          <a:prstGeom prst="rect">
            <a:avLst/>
          </a:prstGeom>
        </p:spPr>
        <p:txBody>
          <a:bodyPr anchor="t" rtlCol="false" tIns="0" lIns="0" bIns="0" rIns="0">
            <a:spAutoFit/>
          </a:bodyPr>
          <a:lstStyle/>
          <a:p>
            <a:pPr algn="ctr">
              <a:lnSpc>
                <a:spcPts val="3813"/>
              </a:lnSpc>
            </a:pPr>
          </a:p>
          <a:p>
            <a:pPr algn="l" marL="588163" indent="-294082" lvl="1">
              <a:lnSpc>
                <a:spcPts val="3813"/>
              </a:lnSpc>
              <a:buFont typeface="Arial"/>
              <a:buChar char="•"/>
            </a:pPr>
            <a:r>
              <a:rPr lang="en-US" sz="2724">
                <a:solidFill>
                  <a:srgbClr val="000000"/>
                </a:solidFill>
                <a:latin typeface="Aristotelica Pro"/>
                <a:ea typeface="Aristotelica Pro"/>
                <a:cs typeface="Aristotelica Pro"/>
                <a:sym typeface="Aristotelica Pro"/>
              </a:rPr>
              <a:t>Issue Reporting &amp; Tracking: Citizens report issues with photos and location; track status in real-time</a:t>
            </a:r>
          </a:p>
          <a:p>
            <a:pPr algn="l" marL="588163" indent="-294082" lvl="1">
              <a:lnSpc>
                <a:spcPts val="3813"/>
              </a:lnSpc>
              <a:buFont typeface="Arial"/>
              <a:buChar char="•"/>
            </a:pPr>
            <a:r>
              <a:rPr lang="en-US" sz="2724">
                <a:solidFill>
                  <a:srgbClr val="000000"/>
                </a:solidFill>
                <a:latin typeface="Aristotelica Pro"/>
                <a:ea typeface="Aristotelica Pro"/>
                <a:cs typeface="Aristotelica Pro"/>
                <a:sym typeface="Aristotelica Pro"/>
              </a:rPr>
              <a:t>Community Forums: Discuss local issues and vote on important topics.</a:t>
            </a:r>
          </a:p>
          <a:p>
            <a:pPr algn="l" marL="588163" indent="-294082" lvl="1">
              <a:lnSpc>
                <a:spcPts val="3813"/>
              </a:lnSpc>
              <a:buFont typeface="Arial"/>
              <a:buChar char="•"/>
            </a:pPr>
            <a:r>
              <a:rPr lang="en-US" sz="2724">
                <a:solidFill>
                  <a:srgbClr val="000000"/>
                </a:solidFill>
                <a:latin typeface="Aristotelica Pro"/>
                <a:ea typeface="Aristotelica Pro"/>
                <a:cs typeface="Aristotelica Pro"/>
                <a:sym typeface="Aristotelica Pro"/>
              </a:rPr>
              <a:t>Trending Issues Dashboard: Displays common issues to help authorities prioritize them.</a:t>
            </a:r>
          </a:p>
          <a:p>
            <a:pPr algn="l" marL="588163" indent="-294082" lvl="1">
              <a:lnSpc>
                <a:spcPts val="3813"/>
              </a:lnSpc>
              <a:buFont typeface="Arial"/>
              <a:buChar char="•"/>
            </a:pPr>
            <a:r>
              <a:rPr lang="en-US" sz="2724">
                <a:solidFill>
                  <a:srgbClr val="000000"/>
                </a:solidFill>
                <a:latin typeface="Aristotelica Pro"/>
                <a:ea typeface="Aristotelica Pro"/>
                <a:cs typeface="Aristotelica Pro"/>
                <a:sym typeface="Aristotelica Pro"/>
              </a:rPr>
              <a:t>AI-Powered Incident Prioritization: AI groups similar issues and flags high-priority problems.</a:t>
            </a:r>
          </a:p>
          <a:p>
            <a:pPr algn="l" marL="588163" indent="-294082" lvl="1">
              <a:lnSpc>
                <a:spcPts val="3813"/>
              </a:lnSpc>
              <a:buFont typeface="Arial"/>
              <a:buChar char="•"/>
            </a:pPr>
            <a:r>
              <a:rPr lang="en-US" sz="2724">
                <a:solidFill>
                  <a:srgbClr val="000000"/>
                </a:solidFill>
                <a:latin typeface="Aristotelica Pro"/>
                <a:ea typeface="Aristotelica Pro"/>
                <a:cs typeface="Aristotelica Pro"/>
                <a:sym typeface="Aristotelica Pro"/>
              </a:rPr>
              <a:t>Blockchain for Transparency: Secure tracking of issue resolution for transparency and accountability.</a:t>
            </a:r>
          </a:p>
          <a:p>
            <a:pPr algn="l" marL="588163" indent="-294082" lvl="1">
              <a:lnSpc>
                <a:spcPts val="3813"/>
              </a:lnSpc>
              <a:buFont typeface="Arial"/>
              <a:buChar char="•"/>
            </a:pPr>
            <a:r>
              <a:rPr lang="en-US" sz="2724">
                <a:solidFill>
                  <a:srgbClr val="000000"/>
                </a:solidFill>
                <a:latin typeface="Aristotelica Pro"/>
                <a:ea typeface="Aristotelica Pro"/>
                <a:cs typeface="Aristotelica Pro"/>
                <a:sym typeface="Aristotelica Pro"/>
              </a:rPr>
              <a:t>Gamification for Engagement: Earn points and badges for active participation; leaderboards encourage involvement.</a:t>
            </a:r>
          </a:p>
          <a:p>
            <a:pPr algn="l" marL="588163" indent="-294082" lvl="1">
              <a:lnSpc>
                <a:spcPts val="3813"/>
              </a:lnSpc>
              <a:buFont typeface="Arial"/>
              <a:buChar char="•"/>
            </a:pPr>
            <a:r>
              <a:rPr lang="en-US" sz="2724">
                <a:solidFill>
                  <a:srgbClr val="000000"/>
                </a:solidFill>
                <a:latin typeface="Aristotelica Pro"/>
                <a:ea typeface="Aristotelica Pro"/>
                <a:cs typeface="Aristotelica Pro"/>
                <a:sym typeface="Aristotelica Pro"/>
              </a:rPr>
              <a:t>E-Governance Integration: Access government services like permits, taxes, and electoral rolls.</a:t>
            </a:r>
          </a:p>
          <a:p>
            <a:pPr algn="ctr">
              <a:lnSpc>
                <a:spcPts val="3813"/>
              </a:lnSpc>
            </a:pPr>
          </a:p>
        </p:txBody>
      </p:sp>
      <p:sp>
        <p:nvSpPr>
          <p:cNvPr name="Freeform 4" id="4"/>
          <p:cNvSpPr/>
          <p:nvPr/>
        </p:nvSpPr>
        <p:spPr>
          <a:xfrm flipH="false" flipV="false" rot="-266140">
            <a:off x="15057292" y="4469433"/>
            <a:ext cx="8519572" cy="8994702"/>
          </a:xfrm>
          <a:custGeom>
            <a:avLst/>
            <a:gdLst/>
            <a:ahLst/>
            <a:cxnLst/>
            <a:rect r="r" b="b" t="t" l="l"/>
            <a:pathLst>
              <a:path h="8994702" w="8519572">
                <a:moveTo>
                  <a:pt x="0" y="0"/>
                </a:moveTo>
                <a:lnTo>
                  <a:pt x="8519572" y="0"/>
                </a:lnTo>
                <a:lnTo>
                  <a:pt x="8519572" y="8994702"/>
                </a:lnTo>
                <a:lnTo>
                  <a:pt x="0" y="8994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5502360">
            <a:off x="12999514" y="-5182854"/>
            <a:ext cx="8519572" cy="8994702"/>
          </a:xfrm>
          <a:custGeom>
            <a:avLst/>
            <a:gdLst/>
            <a:ahLst/>
            <a:cxnLst/>
            <a:rect r="r" b="b" t="t" l="l"/>
            <a:pathLst>
              <a:path h="8994702" w="8519572">
                <a:moveTo>
                  <a:pt x="8519572" y="8994703"/>
                </a:moveTo>
                <a:lnTo>
                  <a:pt x="0" y="8994703"/>
                </a:lnTo>
                <a:lnTo>
                  <a:pt x="0" y="0"/>
                </a:lnTo>
                <a:lnTo>
                  <a:pt x="8519572" y="0"/>
                </a:lnTo>
                <a:lnTo>
                  <a:pt x="8519572" y="899470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412589" y="1774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5603040" y="63529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5230087">
            <a:off x="-3231086" y="-5087496"/>
            <a:ext cx="8519572" cy="8994702"/>
          </a:xfrm>
          <a:custGeom>
            <a:avLst/>
            <a:gdLst/>
            <a:ahLst/>
            <a:cxnLst/>
            <a:rect r="r" b="b" t="t" l="l"/>
            <a:pathLst>
              <a:path h="8994702" w="8519572">
                <a:moveTo>
                  <a:pt x="8519572" y="0"/>
                </a:moveTo>
                <a:lnTo>
                  <a:pt x="0" y="0"/>
                </a:lnTo>
                <a:lnTo>
                  <a:pt x="0" y="8994703"/>
                </a:lnTo>
                <a:lnTo>
                  <a:pt x="8519572" y="8994703"/>
                </a:lnTo>
                <a:lnTo>
                  <a:pt x="85195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786346" y="177405"/>
            <a:ext cx="3312520" cy="1915239"/>
          </a:xfrm>
          <a:custGeom>
            <a:avLst/>
            <a:gdLst/>
            <a:ahLst/>
            <a:cxnLst/>
            <a:rect r="r" b="b" t="t" l="l"/>
            <a:pathLst>
              <a:path h="1915239" w="3312520">
                <a:moveTo>
                  <a:pt x="3312519" y="0"/>
                </a:moveTo>
                <a:lnTo>
                  <a:pt x="0" y="0"/>
                </a:lnTo>
                <a:lnTo>
                  <a:pt x="0" y="1915238"/>
                </a:lnTo>
                <a:lnTo>
                  <a:pt x="3312519" y="1915238"/>
                </a:lnTo>
                <a:lnTo>
                  <a:pt x="33125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63478">
            <a:off x="-5209686" y="4453660"/>
            <a:ext cx="8519572" cy="8994702"/>
          </a:xfrm>
          <a:custGeom>
            <a:avLst/>
            <a:gdLst/>
            <a:ahLst/>
            <a:cxnLst/>
            <a:rect r="r" b="b" t="t" l="l"/>
            <a:pathLst>
              <a:path h="8994702" w="8519572">
                <a:moveTo>
                  <a:pt x="8519573" y="0"/>
                </a:moveTo>
                <a:lnTo>
                  <a:pt x="0" y="0"/>
                </a:lnTo>
                <a:lnTo>
                  <a:pt x="0" y="8994702"/>
                </a:lnTo>
                <a:lnTo>
                  <a:pt x="8519573" y="8994702"/>
                </a:lnTo>
                <a:lnTo>
                  <a:pt x="85195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true" rot="5400000">
            <a:off x="-656135" y="6283932"/>
            <a:ext cx="3312520" cy="1915239"/>
          </a:xfrm>
          <a:custGeom>
            <a:avLst/>
            <a:gdLst/>
            <a:ahLst/>
            <a:cxnLst/>
            <a:rect r="r" b="b" t="t" l="l"/>
            <a:pathLst>
              <a:path h="1915239" w="3312520">
                <a:moveTo>
                  <a:pt x="0" y="1915238"/>
                </a:moveTo>
                <a:lnTo>
                  <a:pt x="3312520" y="1915238"/>
                </a:lnTo>
                <a:lnTo>
                  <a:pt x="3312520" y="0"/>
                </a:lnTo>
                <a:lnTo>
                  <a:pt x="0" y="0"/>
                </a:lnTo>
                <a:lnTo>
                  <a:pt x="0" y="1915238"/>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5411" y="1968818"/>
            <a:ext cx="8537178" cy="1114989"/>
          </a:xfrm>
          <a:prstGeom prst="rect">
            <a:avLst/>
          </a:prstGeom>
        </p:spPr>
        <p:txBody>
          <a:bodyPr anchor="t" rtlCol="false" tIns="0" lIns="0" bIns="0" rIns="0">
            <a:spAutoFit/>
          </a:bodyPr>
          <a:lstStyle/>
          <a:p>
            <a:pPr algn="ctr">
              <a:lnSpc>
                <a:spcPts val="9147"/>
              </a:lnSpc>
            </a:pPr>
            <a:r>
              <a:rPr lang="en-US" b="true" sz="6534">
                <a:solidFill>
                  <a:srgbClr val="53819B"/>
                </a:solidFill>
                <a:latin typeface="Aristotelica Pro Bold"/>
                <a:ea typeface="Aristotelica Pro Bold"/>
                <a:cs typeface="Aristotelica Pro Bold"/>
                <a:sym typeface="Aristotelica Pro Bold"/>
              </a:rPr>
              <a:t>TECHNOLOGY STACK:</a:t>
            </a:r>
          </a:p>
        </p:txBody>
      </p:sp>
      <p:sp>
        <p:nvSpPr>
          <p:cNvPr name="TextBox 3" id="3"/>
          <p:cNvSpPr txBox="true"/>
          <p:nvPr/>
        </p:nvSpPr>
        <p:spPr>
          <a:xfrm rot="0">
            <a:off x="4332043" y="3639612"/>
            <a:ext cx="11156451" cy="3803262"/>
          </a:xfrm>
          <a:prstGeom prst="rect">
            <a:avLst/>
          </a:prstGeom>
        </p:spPr>
        <p:txBody>
          <a:bodyPr anchor="t" rtlCol="false" tIns="0" lIns="0" bIns="0" rIns="0">
            <a:spAutoFit/>
          </a:bodyPr>
          <a:lstStyle/>
          <a:p>
            <a:pPr algn="l" marL="785932" indent="-392966" lvl="1">
              <a:lnSpc>
                <a:spcPts val="5096"/>
              </a:lnSpc>
              <a:buFont typeface="Arial"/>
              <a:buChar char="•"/>
            </a:pPr>
            <a:r>
              <a:rPr lang="en-US" sz="3640">
                <a:solidFill>
                  <a:srgbClr val="000000"/>
                </a:solidFill>
                <a:latin typeface="Aristotelica Pro"/>
                <a:ea typeface="Aristotelica Pro"/>
                <a:cs typeface="Aristotelica Pro"/>
                <a:sym typeface="Aristotelica Pro"/>
              </a:rPr>
              <a:t>Frontend:REACT</a:t>
            </a:r>
          </a:p>
          <a:p>
            <a:pPr algn="l" marL="785932" indent="-392966" lvl="1">
              <a:lnSpc>
                <a:spcPts val="5096"/>
              </a:lnSpc>
              <a:buFont typeface="Arial"/>
              <a:buChar char="•"/>
            </a:pPr>
            <a:r>
              <a:rPr lang="en-US" sz="3640">
                <a:solidFill>
                  <a:srgbClr val="000000"/>
                </a:solidFill>
                <a:latin typeface="Aristotelica Pro"/>
                <a:ea typeface="Aristotelica Pro"/>
                <a:cs typeface="Aristotelica Pro"/>
                <a:sym typeface="Aristotelica Pro"/>
              </a:rPr>
              <a:t>Backend:Python(DJAN)</a:t>
            </a:r>
          </a:p>
          <a:p>
            <a:pPr algn="l" marL="785932" indent="-392966" lvl="1">
              <a:lnSpc>
                <a:spcPts val="5096"/>
              </a:lnSpc>
              <a:buFont typeface="Arial"/>
              <a:buChar char="•"/>
            </a:pPr>
            <a:r>
              <a:rPr lang="en-US" sz="3640">
                <a:solidFill>
                  <a:srgbClr val="000000"/>
                </a:solidFill>
                <a:latin typeface="Aristotelica Pro"/>
                <a:ea typeface="Aristotelica Pro"/>
                <a:cs typeface="Aristotelica Pro"/>
                <a:sym typeface="Aristotelica Pro"/>
              </a:rPr>
              <a:t>Database:PostgreSQL or MySQL</a:t>
            </a:r>
          </a:p>
          <a:p>
            <a:pPr algn="l" marL="785932" indent="-392966" lvl="1">
              <a:lnSpc>
                <a:spcPts val="5096"/>
              </a:lnSpc>
              <a:buFont typeface="Arial"/>
              <a:buChar char="•"/>
            </a:pPr>
            <a:r>
              <a:rPr lang="en-US" sz="3640">
                <a:solidFill>
                  <a:srgbClr val="000000"/>
                </a:solidFill>
                <a:latin typeface="Aristotelica Pro"/>
                <a:ea typeface="Aristotelica Pro"/>
                <a:cs typeface="Aristotelica Pro"/>
                <a:sym typeface="Aristotelica Pro"/>
              </a:rPr>
              <a:t>AI/ML Models:TensorFlow or MongoDB</a:t>
            </a:r>
          </a:p>
          <a:p>
            <a:pPr algn="l" marL="785932" indent="-392966" lvl="1">
              <a:lnSpc>
                <a:spcPts val="5096"/>
              </a:lnSpc>
              <a:buFont typeface="Arial"/>
              <a:buChar char="•"/>
            </a:pPr>
            <a:r>
              <a:rPr lang="en-US" sz="3640">
                <a:solidFill>
                  <a:srgbClr val="000000"/>
                </a:solidFill>
                <a:latin typeface="Aristotelica Pro"/>
                <a:ea typeface="Aristotelica Pro"/>
                <a:cs typeface="Aristotelica Pro"/>
                <a:sym typeface="Aristotelica Pro"/>
              </a:rPr>
              <a:t>Blockchain:Ethereum or Hyperledger</a:t>
            </a:r>
          </a:p>
          <a:p>
            <a:pPr algn="l" marL="785932" indent="-392966" lvl="1">
              <a:lnSpc>
                <a:spcPts val="5096"/>
              </a:lnSpc>
              <a:buFont typeface="Arial"/>
              <a:buChar char="•"/>
            </a:pPr>
            <a:r>
              <a:rPr lang="en-US" sz="3640">
                <a:solidFill>
                  <a:srgbClr val="000000"/>
                </a:solidFill>
                <a:latin typeface="Aristotelica Pro"/>
                <a:ea typeface="Aristotelica Pro"/>
                <a:cs typeface="Aristotelica Pro"/>
                <a:sym typeface="Aristotelica Pro"/>
              </a:rPr>
              <a:t>Geolocation:Google Maps API or Open street map</a:t>
            </a:r>
          </a:p>
        </p:txBody>
      </p:sp>
      <p:sp>
        <p:nvSpPr>
          <p:cNvPr name="Freeform 4" id="4"/>
          <p:cNvSpPr/>
          <p:nvPr/>
        </p:nvSpPr>
        <p:spPr>
          <a:xfrm flipH="false" flipV="false" rot="-266140">
            <a:off x="15057292" y="4469433"/>
            <a:ext cx="8519572" cy="8994702"/>
          </a:xfrm>
          <a:custGeom>
            <a:avLst/>
            <a:gdLst/>
            <a:ahLst/>
            <a:cxnLst/>
            <a:rect r="r" b="b" t="t" l="l"/>
            <a:pathLst>
              <a:path h="8994702" w="8519572">
                <a:moveTo>
                  <a:pt x="0" y="0"/>
                </a:moveTo>
                <a:lnTo>
                  <a:pt x="8519572" y="0"/>
                </a:lnTo>
                <a:lnTo>
                  <a:pt x="8519572" y="8994702"/>
                </a:lnTo>
                <a:lnTo>
                  <a:pt x="0" y="8994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5502360">
            <a:off x="12999514" y="-5182854"/>
            <a:ext cx="8519572" cy="8994702"/>
          </a:xfrm>
          <a:custGeom>
            <a:avLst/>
            <a:gdLst/>
            <a:ahLst/>
            <a:cxnLst/>
            <a:rect r="r" b="b" t="t" l="l"/>
            <a:pathLst>
              <a:path h="8994702" w="8519572">
                <a:moveTo>
                  <a:pt x="8519572" y="8994703"/>
                </a:moveTo>
                <a:lnTo>
                  <a:pt x="0" y="8994703"/>
                </a:lnTo>
                <a:lnTo>
                  <a:pt x="0" y="0"/>
                </a:lnTo>
                <a:lnTo>
                  <a:pt x="8519572" y="0"/>
                </a:lnTo>
                <a:lnTo>
                  <a:pt x="8519572" y="899470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412589" y="1774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5603040" y="63529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5230087">
            <a:off x="-3231086" y="-5087496"/>
            <a:ext cx="8519572" cy="8994702"/>
          </a:xfrm>
          <a:custGeom>
            <a:avLst/>
            <a:gdLst/>
            <a:ahLst/>
            <a:cxnLst/>
            <a:rect r="r" b="b" t="t" l="l"/>
            <a:pathLst>
              <a:path h="8994702" w="8519572">
                <a:moveTo>
                  <a:pt x="8519572" y="0"/>
                </a:moveTo>
                <a:lnTo>
                  <a:pt x="0" y="0"/>
                </a:lnTo>
                <a:lnTo>
                  <a:pt x="0" y="8994703"/>
                </a:lnTo>
                <a:lnTo>
                  <a:pt x="8519572" y="8994703"/>
                </a:lnTo>
                <a:lnTo>
                  <a:pt x="85195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786346" y="177405"/>
            <a:ext cx="3312520" cy="1915239"/>
          </a:xfrm>
          <a:custGeom>
            <a:avLst/>
            <a:gdLst/>
            <a:ahLst/>
            <a:cxnLst/>
            <a:rect r="r" b="b" t="t" l="l"/>
            <a:pathLst>
              <a:path h="1915239" w="3312520">
                <a:moveTo>
                  <a:pt x="3312519" y="0"/>
                </a:moveTo>
                <a:lnTo>
                  <a:pt x="0" y="0"/>
                </a:lnTo>
                <a:lnTo>
                  <a:pt x="0" y="1915238"/>
                </a:lnTo>
                <a:lnTo>
                  <a:pt x="3312519" y="1915238"/>
                </a:lnTo>
                <a:lnTo>
                  <a:pt x="33125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63478">
            <a:off x="-5209686" y="4453660"/>
            <a:ext cx="8519572" cy="8994702"/>
          </a:xfrm>
          <a:custGeom>
            <a:avLst/>
            <a:gdLst/>
            <a:ahLst/>
            <a:cxnLst/>
            <a:rect r="r" b="b" t="t" l="l"/>
            <a:pathLst>
              <a:path h="8994702" w="8519572">
                <a:moveTo>
                  <a:pt x="8519573" y="0"/>
                </a:moveTo>
                <a:lnTo>
                  <a:pt x="0" y="0"/>
                </a:lnTo>
                <a:lnTo>
                  <a:pt x="0" y="8994702"/>
                </a:lnTo>
                <a:lnTo>
                  <a:pt x="8519573" y="8994702"/>
                </a:lnTo>
                <a:lnTo>
                  <a:pt x="85195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true" rot="5400000">
            <a:off x="-656135" y="6283932"/>
            <a:ext cx="3312520" cy="1915239"/>
          </a:xfrm>
          <a:custGeom>
            <a:avLst/>
            <a:gdLst/>
            <a:ahLst/>
            <a:cxnLst/>
            <a:rect r="r" b="b" t="t" l="l"/>
            <a:pathLst>
              <a:path h="1915239" w="3312520">
                <a:moveTo>
                  <a:pt x="0" y="1915238"/>
                </a:moveTo>
                <a:lnTo>
                  <a:pt x="3312520" y="1915238"/>
                </a:lnTo>
                <a:lnTo>
                  <a:pt x="3312520" y="0"/>
                </a:lnTo>
                <a:lnTo>
                  <a:pt x="0" y="0"/>
                </a:lnTo>
                <a:lnTo>
                  <a:pt x="0" y="191523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3250399" y="3083808"/>
            <a:ext cx="3636899" cy="3341483"/>
          </a:xfrm>
          <a:custGeom>
            <a:avLst/>
            <a:gdLst/>
            <a:ahLst/>
            <a:cxnLst/>
            <a:rect r="r" b="b" t="t" l="l"/>
            <a:pathLst>
              <a:path h="3341483" w="3636899">
                <a:moveTo>
                  <a:pt x="0" y="0"/>
                </a:moveTo>
                <a:lnTo>
                  <a:pt x="3636899" y="0"/>
                </a:lnTo>
                <a:lnTo>
                  <a:pt x="3636899" y="3341482"/>
                </a:lnTo>
                <a:lnTo>
                  <a:pt x="0" y="3341482"/>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50481" y="4003823"/>
            <a:ext cx="12387037" cy="2044692"/>
          </a:xfrm>
          <a:prstGeom prst="rect">
            <a:avLst/>
          </a:prstGeom>
        </p:spPr>
        <p:txBody>
          <a:bodyPr anchor="t" rtlCol="false" tIns="0" lIns="0" bIns="0" rIns="0">
            <a:spAutoFit/>
          </a:bodyPr>
          <a:lstStyle/>
          <a:p>
            <a:pPr algn="ctr">
              <a:lnSpc>
                <a:spcPts val="16641"/>
              </a:lnSpc>
            </a:pPr>
            <a:r>
              <a:rPr lang="en-US" b="true" sz="11886">
                <a:solidFill>
                  <a:srgbClr val="53819B"/>
                </a:solidFill>
                <a:latin typeface="Aristotelica Pro Bold"/>
                <a:ea typeface="Aristotelica Pro Bold"/>
                <a:cs typeface="Aristotelica Pro Bold"/>
                <a:sym typeface="Aristotelica Pro Bold"/>
              </a:rPr>
              <a:t>THANK YOU</a:t>
            </a:r>
          </a:p>
        </p:txBody>
      </p:sp>
      <p:sp>
        <p:nvSpPr>
          <p:cNvPr name="Freeform 3" id="3"/>
          <p:cNvSpPr/>
          <p:nvPr/>
        </p:nvSpPr>
        <p:spPr>
          <a:xfrm flipH="false" flipV="false" rot="-266140">
            <a:off x="15057292" y="4469433"/>
            <a:ext cx="8519572" cy="8994702"/>
          </a:xfrm>
          <a:custGeom>
            <a:avLst/>
            <a:gdLst/>
            <a:ahLst/>
            <a:cxnLst/>
            <a:rect r="r" b="b" t="t" l="l"/>
            <a:pathLst>
              <a:path h="8994702" w="8519572">
                <a:moveTo>
                  <a:pt x="0" y="0"/>
                </a:moveTo>
                <a:lnTo>
                  <a:pt x="8519572" y="0"/>
                </a:lnTo>
                <a:lnTo>
                  <a:pt x="8519572" y="8994702"/>
                </a:lnTo>
                <a:lnTo>
                  <a:pt x="0" y="8994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502360">
            <a:off x="12999514" y="-5182854"/>
            <a:ext cx="8519572" cy="8994702"/>
          </a:xfrm>
          <a:custGeom>
            <a:avLst/>
            <a:gdLst/>
            <a:ahLst/>
            <a:cxnLst/>
            <a:rect r="r" b="b" t="t" l="l"/>
            <a:pathLst>
              <a:path h="8994702" w="8519572">
                <a:moveTo>
                  <a:pt x="8519572" y="8994703"/>
                </a:moveTo>
                <a:lnTo>
                  <a:pt x="0" y="8994703"/>
                </a:lnTo>
                <a:lnTo>
                  <a:pt x="0" y="0"/>
                </a:lnTo>
                <a:lnTo>
                  <a:pt x="8519572" y="0"/>
                </a:lnTo>
                <a:lnTo>
                  <a:pt x="8519572" y="899470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412589" y="1774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5603040" y="6352905"/>
            <a:ext cx="3312520" cy="1915239"/>
          </a:xfrm>
          <a:custGeom>
            <a:avLst/>
            <a:gdLst/>
            <a:ahLst/>
            <a:cxnLst/>
            <a:rect r="r" b="b" t="t" l="l"/>
            <a:pathLst>
              <a:path h="1915239" w="3312520">
                <a:moveTo>
                  <a:pt x="0" y="0"/>
                </a:moveTo>
                <a:lnTo>
                  <a:pt x="3312520" y="0"/>
                </a:lnTo>
                <a:lnTo>
                  <a:pt x="3312520" y="1915238"/>
                </a:lnTo>
                <a:lnTo>
                  <a:pt x="0" y="1915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5230087">
            <a:off x="-3231086" y="-5087496"/>
            <a:ext cx="8519572" cy="8994702"/>
          </a:xfrm>
          <a:custGeom>
            <a:avLst/>
            <a:gdLst/>
            <a:ahLst/>
            <a:cxnLst/>
            <a:rect r="r" b="b" t="t" l="l"/>
            <a:pathLst>
              <a:path h="8994702" w="8519572">
                <a:moveTo>
                  <a:pt x="8519572" y="0"/>
                </a:moveTo>
                <a:lnTo>
                  <a:pt x="0" y="0"/>
                </a:lnTo>
                <a:lnTo>
                  <a:pt x="0" y="8994703"/>
                </a:lnTo>
                <a:lnTo>
                  <a:pt x="8519572" y="8994703"/>
                </a:lnTo>
                <a:lnTo>
                  <a:pt x="85195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1786346" y="177405"/>
            <a:ext cx="3312520" cy="1915239"/>
          </a:xfrm>
          <a:custGeom>
            <a:avLst/>
            <a:gdLst/>
            <a:ahLst/>
            <a:cxnLst/>
            <a:rect r="r" b="b" t="t" l="l"/>
            <a:pathLst>
              <a:path h="1915239" w="3312520">
                <a:moveTo>
                  <a:pt x="3312519" y="0"/>
                </a:moveTo>
                <a:lnTo>
                  <a:pt x="0" y="0"/>
                </a:lnTo>
                <a:lnTo>
                  <a:pt x="0" y="1915238"/>
                </a:lnTo>
                <a:lnTo>
                  <a:pt x="3312519" y="1915238"/>
                </a:lnTo>
                <a:lnTo>
                  <a:pt x="33125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163478">
            <a:off x="-5209686" y="4453660"/>
            <a:ext cx="8519572" cy="8994702"/>
          </a:xfrm>
          <a:custGeom>
            <a:avLst/>
            <a:gdLst/>
            <a:ahLst/>
            <a:cxnLst/>
            <a:rect r="r" b="b" t="t" l="l"/>
            <a:pathLst>
              <a:path h="8994702" w="8519572">
                <a:moveTo>
                  <a:pt x="8519573" y="0"/>
                </a:moveTo>
                <a:lnTo>
                  <a:pt x="0" y="0"/>
                </a:lnTo>
                <a:lnTo>
                  <a:pt x="0" y="8994702"/>
                </a:lnTo>
                <a:lnTo>
                  <a:pt x="8519573" y="8994702"/>
                </a:lnTo>
                <a:lnTo>
                  <a:pt x="85195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5400000">
            <a:off x="-656135" y="6283932"/>
            <a:ext cx="3312520" cy="1915239"/>
          </a:xfrm>
          <a:custGeom>
            <a:avLst/>
            <a:gdLst/>
            <a:ahLst/>
            <a:cxnLst/>
            <a:rect r="r" b="b" t="t" l="l"/>
            <a:pathLst>
              <a:path h="1915239" w="3312520">
                <a:moveTo>
                  <a:pt x="0" y="1915238"/>
                </a:moveTo>
                <a:lnTo>
                  <a:pt x="3312520" y="1915238"/>
                </a:lnTo>
                <a:lnTo>
                  <a:pt x="3312520" y="0"/>
                </a:lnTo>
                <a:lnTo>
                  <a:pt x="0" y="0"/>
                </a:lnTo>
                <a:lnTo>
                  <a:pt x="0" y="1915238"/>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DAGdaZmW_z0</dc:identifier>
  <dcterms:modified xsi:type="dcterms:W3CDTF">2011-08-01T06:04:30Z</dcterms:modified>
  <cp:revision>1</cp:revision>
  <dc:title>cc</dc:title>
</cp:coreProperties>
</file>